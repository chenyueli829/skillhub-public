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314" r:id="rId2"/>
    <p:sldId id="316" r:id="rId3"/>
    <p:sldId id="312" r:id="rId4"/>
    <p:sldId id="300" r:id="rId5"/>
    <p:sldId id="301" r:id="rId6"/>
    <p:sldId id="302" r:id="rId7"/>
    <p:sldId id="303" r:id="rId8"/>
    <p:sldId id="304" r:id="rId9"/>
    <p:sldId id="307" r:id="rId10"/>
    <p:sldId id="305" r:id="rId11"/>
    <p:sldId id="309" r:id="rId12"/>
    <p:sldId id="306" r:id="rId13"/>
    <p:sldId id="308" r:id="rId14"/>
    <p:sldId id="315" r:id="rId15"/>
    <p:sldId id="311" r:id="rId16"/>
  </p:sldIdLst>
  <p:sldSz cx="12192000" cy="6858000"/>
  <p:notesSz cx="7559675" cy="106918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85"/>
    <p:restoredTop sz="94719"/>
  </p:normalViewPr>
  <p:slideViewPr>
    <p:cSldViewPr snapToGrid="0">
      <p:cViewPr varScale="1">
        <p:scale>
          <a:sx n="148" d="100"/>
          <a:sy n="148" d="100"/>
        </p:scale>
        <p:origin x="9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079097-F884-8346-82AF-C27A44599986}" type="datetimeFigureOut">
              <a:rPr kumimoji="1" lang="zh-CN" altLang="en-US" smtClean="0"/>
              <a:t>2026/6/23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6B906-FE03-5B4A-9100-868122C157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66617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A6B906-FE03-5B4A-9100-868122C157A3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3870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885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B8B78-F8D1-3738-A82F-9EBCAB1E1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47160D-63D1-6FFC-FAAB-A80B87B55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F33405-F8D7-C4B4-6555-783358BDD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F4353-635A-545E-A579-5F914D73BB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44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9E2C5-2087-0078-6F82-FE7C541F9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0B6864-60B8-DA4C-9870-03F5BF3C07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3508D2-551E-0BFF-E3AA-E642B38D2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4B483-153C-3709-2F90-B5499875F7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17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C"/>
          </a:solidFill>
          <a:ln/>
        </p:spPr>
      </p:sp>
    </p:spTree>
    <p:extLst>
      <p:ext uri="{BB962C8B-B14F-4D97-AF65-F5344CB8AC3E}">
        <p14:creationId xmlns:p14="http://schemas.microsoft.com/office/powerpoint/2010/main" val="4291082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E8B2095-84C9-8C5A-5EDC-00E96DFBF426}"/>
              </a:ext>
            </a:extLst>
          </p:cNvPr>
          <p:cNvSpPr/>
          <p:nvPr/>
        </p:nvSpPr>
        <p:spPr>
          <a:xfrm>
            <a:off x="1183064" y="1923737"/>
            <a:ext cx="549176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15" dirty="0">
                <a:solidFill>
                  <a:srgbClr val="6B6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 BRAND</a:t>
            </a:r>
            <a:endParaRPr lang="en-US" sz="975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19BC0ED-9E62-E5F1-3C7F-44E9BF1AC304}"/>
              </a:ext>
            </a:extLst>
          </p:cNvPr>
          <p:cNvSpPr/>
          <p:nvPr/>
        </p:nvSpPr>
        <p:spPr>
          <a:xfrm>
            <a:off x="1183064" y="2538099"/>
            <a:ext cx="5491765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55000" lnSpcReduction="200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altLang="zh-CN" sz="5700" b="1" kern="0" spc="-17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zh-CN" altLang="en-US" sz="5700" b="1" kern="0" spc="-17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个月，用</a:t>
            </a:r>
            <a:r>
              <a:rPr lang="en-US" altLang="zh-CN" sz="5700" b="1" kern="0" spc="-17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r>
              <a:rPr lang="zh-CN" altLang="en-US" sz="5700" b="1" kern="0" spc="-17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重塑产品工作流程</a:t>
            </a:r>
            <a:endParaRPr lang="en-US" sz="57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63FC7C4-803D-E612-2C47-0580D97FF874}"/>
              </a:ext>
            </a:extLst>
          </p:cNvPr>
          <p:cNvSpPr/>
          <p:nvPr/>
        </p:nvSpPr>
        <p:spPr>
          <a:xfrm>
            <a:off x="1183064" y="3328451"/>
            <a:ext cx="5142289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从Openclaw</a:t>
            </a:r>
            <a:r>
              <a:rPr lang="en-US" sz="142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25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</a:t>
            </a:r>
            <a:r>
              <a:rPr lang="zh-CN" altLang="en-US" sz="142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2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</a:t>
            </a:r>
            <a:r>
              <a:rPr lang="zh-CN" altLang="en-US" sz="142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到 </a:t>
            </a:r>
            <a:r>
              <a:rPr lang="en-US" altLang="zh-CN" sz="142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</a:t>
            </a:r>
            <a:r>
              <a:rPr lang="en-US" altLang="zh-CN" sz="1425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</a:t>
            </a:r>
            <a:r>
              <a:rPr lang="zh-CN" altLang="en-US" sz="142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，用</a:t>
            </a:r>
            <a:r>
              <a:rPr lang="en-US" altLang="zh-CN" sz="142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r>
              <a:rPr lang="zh-CN" altLang="en-US" sz="142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重塑工作流程</a:t>
            </a:r>
            <a:endParaRPr lang="en-US" altLang="zh-CN" sz="1425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55000"/>
              </a:lnSpc>
              <a:buNone/>
            </a:pPr>
            <a:endParaRPr lang="en-US" sz="1425" dirty="0">
              <a:solidFill>
                <a:schemeClr val="bg1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7626E31-C5B1-2B47-785F-AE10E5A32D63}"/>
              </a:ext>
            </a:extLst>
          </p:cNvPr>
          <p:cNvSpPr/>
          <p:nvPr/>
        </p:nvSpPr>
        <p:spPr>
          <a:xfrm>
            <a:off x="1183064" y="4232285"/>
            <a:ext cx="1323603" cy="342900"/>
          </a:xfrm>
          <a:prstGeom prst="roundRect">
            <a:avLst>
              <a:gd name="adj" fmla="val 50000"/>
            </a:avLst>
          </a:prstGeom>
          <a:ln w="9525">
            <a:solidFill>
              <a:srgbClr val="2626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142630D-CF8F-19FD-043C-A2C04DBD0221}"/>
              </a:ext>
            </a:extLst>
          </p:cNvPr>
          <p:cNvSpPr/>
          <p:nvPr/>
        </p:nvSpPr>
        <p:spPr>
          <a:xfrm>
            <a:off x="1325939" y="4318010"/>
            <a:ext cx="111405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72" dirty="0" err="1">
                <a:solidFill>
                  <a:srgbClr val="CFC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三个阶段</a:t>
            </a:r>
            <a:endParaRPr lang="en-US" sz="9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BAAA2D2-83C5-B98A-9DC3-B3ABF20375AC}"/>
              </a:ext>
            </a:extLst>
          </p:cNvPr>
          <p:cNvSpPr/>
          <p:nvPr/>
        </p:nvSpPr>
        <p:spPr>
          <a:xfrm>
            <a:off x="2601917" y="4232285"/>
            <a:ext cx="1323603" cy="342900"/>
          </a:xfrm>
          <a:prstGeom prst="roundRect">
            <a:avLst>
              <a:gd name="adj" fmla="val 50000"/>
            </a:avLst>
          </a:prstGeom>
          <a:ln w="9525">
            <a:solidFill>
              <a:srgbClr val="2626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DAB8400-7BBB-98E2-54BD-D1A477976F43}"/>
              </a:ext>
            </a:extLst>
          </p:cNvPr>
          <p:cNvSpPr/>
          <p:nvPr/>
        </p:nvSpPr>
        <p:spPr>
          <a:xfrm>
            <a:off x="2744792" y="4318010"/>
            <a:ext cx="111405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72" dirty="0">
                <a:solidFill>
                  <a:srgbClr val="CFC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 / </a:t>
            </a:r>
            <a:r>
              <a:rPr lang="en-US" sz="900" kern="0" spc="72" dirty="0" err="1">
                <a:solidFill>
                  <a:srgbClr val="CFC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知识库</a:t>
            </a:r>
            <a:endParaRPr lang="en-US" sz="9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D8604E4-3849-6958-7F7D-227720D9E5BA}"/>
              </a:ext>
            </a:extLst>
          </p:cNvPr>
          <p:cNvSpPr/>
          <p:nvPr/>
        </p:nvSpPr>
        <p:spPr>
          <a:xfrm>
            <a:off x="4020770" y="4232285"/>
            <a:ext cx="1570509" cy="342900"/>
          </a:xfrm>
          <a:prstGeom prst="roundRect">
            <a:avLst>
              <a:gd name="adj" fmla="val 50000"/>
            </a:avLst>
          </a:prstGeom>
          <a:ln w="9525">
            <a:solidFill>
              <a:srgbClr val="2626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C42C129-7927-65FD-1B7A-7F5D87A3375F}"/>
              </a:ext>
            </a:extLst>
          </p:cNvPr>
          <p:cNvSpPr/>
          <p:nvPr/>
        </p:nvSpPr>
        <p:spPr>
          <a:xfrm>
            <a:off x="4163645" y="4318010"/>
            <a:ext cx="13609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72" dirty="0">
                <a:solidFill>
                  <a:srgbClr val="CFC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Playful</a:t>
            </a:r>
            <a:endParaRPr lang="en-US" sz="9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3841FCA-E4F0-792C-D959-AA242D282B2B}"/>
              </a:ext>
            </a:extLst>
          </p:cNvPr>
          <p:cNvSpPr/>
          <p:nvPr/>
        </p:nvSpPr>
        <p:spPr>
          <a:xfrm>
            <a:off x="7227346" y="1534998"/>
            <a:ext cx="3048000" cy="3048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B595DACC-F0F0-9967-B3A9-FBB0D99A1E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98846" y="2106498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491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A9DC327-6EDB-4CA9-7539-EEFBE0C3E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726" y="1352191"/>
            <a:ext cx="5404435" cy="488192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06FCE07-DE19-053A-383B-109A59E993D6}"/>
              </a:ext>
            </a:extLst>
          </p:cNvPr>
          <p:cNvSpPr txBox="1"/>
          <p:nvPr/>
        </p:nvSpPr>
        <p:spPr>
          <a:xfrm>
            <a:off x="457200" y="623881"/>
            <a:ext cx="3510951" cy="124649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2026 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是 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Agent 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爆发元年</a:t>
            </a:r>
          </a:p>
          <a:p>
            <a:b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</a:b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49461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1CBCD44-29AE-7BCB-AC69-A38749357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436" y="1605821"/>
            <a:ext cx="8238462" cy="394801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0AFA756-D9B7-D897-8466-40779893D7F1}"/>
              </a:ext>
            </a:extLst>
          </p:cNvPr>
          <p:cNvSpPr txBox="1"/>
          <p:nvPr/>
        </p:nvSpPr>
        <p:spPr>
          <a:xfrm>
            <a:off x="457200" y="623880"/>
            <a:ext cx="8967519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阶段一、起源：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26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年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2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月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Agent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爆发，开始认真设计个人分身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0848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9FD3C-F94B-A24A-3B28-3ED05E4D5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任意形状 181">
            <a:extLst>
              <a:ext uri="{FF2B5EF4-FFF2-40B4-BE49-F238E27FC236}">
                <a16:creationId xmlns:a16="http://schemas.microsoft.com/office/drawing/2014/main" id="{559D98A4-9B42-B457-98E2-C94B7E486D34}"/>
              </a:ext>
            </a:extLst>
          </p:cNvPr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83" name="图片 182">
            <a:extLst>
              <a:ext uri="{FF2B5EF4-FFF2-40B4-BE49-F238E27FC236}">
                <a16:creationId xmlns:a16="http://schemas.microsoft.com/office/drawing/2014/main" id="{5780A09E-35DB-2CE9-32A3-CB55644837F6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图片 183">
            <a:extLst>
              <a:ext uri="{FF2B5EF4-FFF2-40B4-BE49-F238E27FC236}">
                <a16:creationId xmlns:a16="http://schemas.microsoft.com/office/drawing/2014/main" id="{1B6EBACE-059B-2494-24E5-0FFD26848261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3" name="图片 222">
            <a:extLst>
              <a:ext uri="{FF2B5EF4-FFF2-40B4-BE49-F238E27FC236}">
                <a16:creationId xmlns:a16="http://schemas.microsoft.com/office/drawing/2014/main" id="{EF32722A-DCE3-32DF-2D48-47766468ECC1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838920"/>
            <a:ext cx="12191760" cy="1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07AFAF52-BB26-9749-6C53-7706BDD6C7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490" y="1280159"/>
            <a:ext cx="5473551" cy="473183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9B66141-4EA9-4177-F879-F557EEA576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3866" y="1280159"/>
            <a:ext cx="5480213" cy="521025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C1F823A-7946-B4B3-49DA-1BB2150AA400}"/>
              </a:ext>
            </a:extLst>
          </p:cNvPr>
          <p:cNvSpPr txBox="1"/>
          <p:nvPr/>
        </p:nvSpPr>
        <p:spPr>
          <a:xfrm>
            <a:off x="457200" y="623880"/>
            <a:ext cx="4829848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案例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一：</a:t>
            </a:r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 </a:t>
            </a:r>
            <a:r>
              <a:rPr lang="en-US" altLang="zh-CN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AI</a:t>
            </a:r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 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运营 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/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 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AI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产品体验官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8698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87BFB-3D6E-D70E-1151-3E3CB8EDE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任意形状 181">
            <a:extLst>
              <a:ext uri="{FF2B5EF4-FFF2-40B4-BE49-F238E27FC236}">
                <a16:creationId xmlns:a16="http://schemas.microsoft.com/office/drawing/2014/main" id="{821F61E4-99FD-1AEB-C77F-C2620D273E87}"/>
              </a:ext>
            </a:extLst>
          </p:cNvPr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83" name="图片 182">
            <a:extLst>
              <a:ext uri="{FF2B5EF4-FFF2-40B4-BE49-F238E27FC236}">
                <a16:creationId xmlns:a16="http://schemas.microsoft.com/office/drawing/2014/main" id="{351B0959-C6E9-7805-E575-714A25F755A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图片 183">
            <a:extLst>
              <a:ext uri="{FF2B5EF4-FFF2-40B4-BE49-F238E27FC236}">
                <a16:creationId xmlns:a16="http://schemas.microsoft.com/office/drawing/2014/main" id="{97DAEB13-339E-3B00-0352-5D22FF058E1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3" name="图片 222">
            <a:extLst>
              <a:ext uri="{FF2B5EF4-FFF2-40B4-BE49-F238E27FC236}">
                <a16:creationId xmlns:a16="http://schemas.microsoft.com/office/drawing/2014/main" id="{854B70F1-4C68-EE24-36D1-B2BDC45E5EC4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838920"/>
            <a:ext cx="12191760" cy="1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30162A0-4797-F2DC-E504-EC67A31262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646" y="1288021"/>
            <a:ext cx="4829176" cy="523363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B6A9EA8-A0ED-9204-EB57-91F8394D9D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6431" y="1288022"/>
            <a:ext cx="3609090" cy="532233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149C4D2-E888-C713-D8A6-FB4C71D69DD7}"/>
              </a:ext>
            </a:extLst>
          </p:cNvPr>
          <p:cNvSpPr txBox="1"/>
          <p:nvPr/>
        </p:nvSpPr>
        <p:spPr>
          <a:xfrm>
            <a:off x="457200" y="623880"/>
            <a:ext cx="9005670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案例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二：</a:t>
            </a:r>
            <a:r>
              <a:rPr lang="en-US" altLang="zh-CN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24</a:t>
            </a:r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小时不停歇的行业深度研究、你睡觉他工作～</a:t>
            </a:r>
            <a:r>
              <a:rPr lang="en-US" altLang="zh-CN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😴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94425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93" y="1604197"/>
            <a:ext cx="4079320" cy="458219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4675" y="1604197"/>
            <a:ext cx="6298606" cy="477801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C406212-234D-DC76-4FF0-5465AC2D2853}"/>
              </a:ext>
            </a:extLst>
          </p:cNvPr>
          <p:cNvSpPr txBox="1"/>
          <p:nvPr/>
        </p:nvSpPr>
        <p:spPr>
          <a:xfrm>
            <a:off x="457200" y="623880"/>
            <a:ext cx="9281067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案例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三：</a:t>
            </a:r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快速定制角色，了解项目细节的 </a:t>
            </a:r>
            <a:r>
              <a:rPr lang="en-US" altLang="zh-CN" sz="2700" b="0" u="none" strike="noStrike" dirty="0" err="1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ToB</a:t>
            </a:r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 解决方案架构师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85114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39D37-3063-602D-1919-7E0515CDA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E9C0B4F-954C-10DE-CE84-DF0DC57C6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98" y="1298622"/>
            <a:ext cx="7176700" cy="501733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3FA7281-114B-1FE8-0DD4-BE5A807B14C5}"/>
              </a:ext>
            </a:extLst>
          </p:cNvPr>
          <p:cNvSpPr txBox="1"/>
          <p:nvPr/>
        </p:nvSpPr>
        <p:spPr>
          <a:xfrm>
            <a:off x="457200" y="623880"/>
            <a:ext cx="10422725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阶段二、加速：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 3-4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月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AI 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产品调研 和</a:t>
            </a:r>
            <a:r>
              <a:rPr lang="en-US" altLang="zh-CN" sz="2700" dirty="0" err="1">
                <a:solidFill>
                  <a:srgbClr val="FFFFFF"/>
                </a:solidFill>
                <a:latin typeface="NotoSansSC"/>
                <a:ea typeface="NotoSansSC"/>
              </a:rPr>
              <a:t>SkillHub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评测，挑选最趁手的工具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07944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E48B4-EE55-19F8-001E-545DC5DBF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ADA4D9F-AFB5-1733-3169-CB5721754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3128" y="1204393"/>
            <a:ext cx="8485744" cy="525702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A518A54-3245-F897-0A7D-A5414F2CA639}"/>
              </a:ext>
            </a:extLst>
          </p:cNvPr>
          <p:cNvSpPr txBox="1"/>
          <p:nvPr/>
        </p:nvSpPr>
        <p:spPr>
          <a:xfrm>
            <a:off x="457200" y="623880"/>
            <a:ext cx="4943661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2700" dirty="0" err="1">
                <a:solidFill>
                  <a:srgbClr val="FFFFFF"/>
                </a:solidFill>
                <a:latin typeface="NotoSansSC"/>
                <a:ea typeface="NotoSansSC"/>
              </a:rPr>
              <a:t>SkillHub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评测：挑选最适合的工具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8943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2851AF5-D308-0180-F50B-CC31F2A23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4431" y="1234909"/>
            <a:ext cx="9036097" cy="528843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7F8BEFD-8D96-B1C4-AB1F-50A9102EAAE7}"/>
              </a:ext>
            </a:extLst>
          </p:cNvPr>
          <p:cNvSpPr txBox="1"/>
          <p:nvPr/>
        </p:nvSpPr>
        <p:spPr>
          <a:xfrm>
            <a:off x="457200" y="623880"/>
            <a:ext cx="11535145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阶段三、进化： 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AI Native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工作模式，我和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AI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共同创作 </a:t>
            </a:r>
            <a:r>
              <a:rPr lang="en-US" altLang="zh-CN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Product Lab</a:t>
            </a:r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、</a:t>
            </a:r>
            <a:r>
              <a:rPr lang="en-US" altLang="zh-CN" sz="2700" b="0" u="none" strike="noStrike" dirty="0" err="1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AgentPay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82277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21C849-DFD9-CFB8-0394-40EFCB9D4E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866" y="1106373"/>
            <a:ext cx="7639023" cy="522603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0A81494-0570-17C1-7013-5CB5E6314DA1}"/>
              </a:ext>
            </a:extLst>
          </p:cNvPr>
          <p:cNvSpPr txBox="1"/>
          <p:nvPr/>
        </p:nvSpPr>
        <p:spPr>
          <a:xfrm>
            <a:off x="457200" y="623880"/>
            <a:ext cx="5826147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Product Lab</a:t>
            </a:r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：找灵感、找机会和切入点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0519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A70B9-7D36-BFF2-21FB-AE4C16981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5E97BE5-4521-494E-355F-ED839D49398D}"/>
              </a:ext>
            </a:extLst>
          </p:cNvPr>
          <p:cNvSpPr txBox="1"/>
          <p:nvPr/>
        </p:nvSpPr>
        <p:spPr>
          <a:xfrm>
            <a:off x="457200" y="623880"/>
            <a:ext cx="3467552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Product Lab</a:t>
            </a:r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：竞品分析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CB1E7EE-121E-E37C-1F16-0251023E2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8503"/>
            <a:ext cx="7583864" cy="484103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7D227A2-1251-0582-4CF9-3BAD9A985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106" y="1438502"/>
            <a:ext cx="7625646" cy="484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409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24B50A-F635-A5EE-92B7-04BEB35C6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10" y="1339899"/>
            <a:ext cx="5830601" cy="390333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9C52C35-3782-262F-051C-8BE26433A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0263" y="1339899"/>
            <a:ext cx="5921727" cy="382363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3D5C0EA-BE17-8698-D0F1-F95B358E3D40}"/>
              </a:ext>
            </a:extLst>
          </p:cNvPr>
          <p:cNvSpPr txBox="1"/>
          <p:nvPr/>
        </p:nvSpPr>
        <p:spPr>
          <a:xfrm>
            <a:off x="457200" y="623880"/>
            <a:ext cx="3467552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Product Lab</a:t>
            </a:r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：竞品分析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68072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834D097-A138-B7F9-156B-D207D3F455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88" y="1265622"/>
            <a:ext cx="5080661" cy="534708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4D8201D-DE95-D22F-E8E1-51D4FA734135}"/>
              </a:ext>
            </a:extLst>
          </p:cNvPr>
          <p:cNvSpPr txBox="1"/>
          <p:nvPr/>
        </p:nvSpPr>
        <p:spPr>
          <a:xfrm>
            <a:off x="457200" y="623880"/>
            <a:ext cx="5133649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Product Lab</a:t>
            </a:r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：灵魂拷问、多维评判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E90D404-5A54-6D03-9F40-433A306CC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95565"/>
            <a:ext cx="4163540" cy="425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264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F612B-4099-3F68-5017-CDAFAB2EB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4593B57-5AE0-8FA2-4ECB-1AA37059D2DC}"/>
              </a:ext>
            </a:extLst>
          </p:cNvPr>
          <p:cNvSpPr txBox="1"/>
          <p:nvPr/>
        </p:nvSpPr>
        <p:spPr>
          <a:xfrm>
            <a:off x="457200" y="623880"/>
            <a:ext cx="5546390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阶段四、小步快跑、动手和落地能力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261F0C-82D0-D96C-E979-B1CB6CA56A00}"/>
              </a:ext>
            </a:extLst>
          </p:cNvPr>
          <p:cNvSpPr txBox="1"/>
          <p:nvPr/>
        </p:nvSpPr>
        <p:spPr>
          <a:xfrm>
            <a:off x="2837468" y="2506183"/>
            <a:ext cx="7795967" cy="1845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en-US" altLang="zh-CN" sz="2000" dirty="0">
                <a:solidFill>
                  <a:schemeClr val="bg1"/>
                </a:solidFill>
              </a:rPr>
              <a:t>Project 1</a:t>
            </a:r>
            <a:r>
              <a:rPr kumimoji="1" lang="zh-CN" altLang="en-US" sz="2000" dirty="0">
                <a:solidFill>
                  <a:schemeClr val="bg1"/>
                </a:solidFill>
              </a:rPr>
              <a:t>、金融领域</a:t>
            </a:r>
            <a:r>
              <a:rPr kumimoji="1" lang="en-US" altLang="zh-CN" sz="2000" dirty="0">
                <a:solidFill>
                  <a:schemeClr val="bg1"/>
                </a:solidFill>
              </a:rPr>
              <a:t>——</a:t>
            </a:r>
            <a:r>
              <a:rPr kumimoji="1" lang="zh-CN" altLang="en-US" sz="2000" dirty="0">
                <a:solidFill>
                  <a:schemeClr val="bg1"/>
                </a:solidFill>
              </a:rPr>
              <a:t>智能问答</a:t>
            </a:r>
            <a:endParaRPr kumimoji="1" lang="en-US" altLang="zh-CN" sz="2000" dirty="0">
              <a:solidFill>
                <a:schemeClr val="bg1"/>
              </a:solidFill>
            </a:endParaRPr>
          </a:p>
          <a:p>
            <a:pPr>
              <a:lnSpc>
                <a:spcPct val="200000"/>
              </a:lnSpc>
            </a:pPr>
            <a:r>
              <a:rPr kumimoji="1" lang="en-US" altLang="zh-CN" sz="2000" dirty="0">
                <a:solidFill>
                  <a:schemeClr val="bg1"/>
                </a:solidFill>
              </a:rPr>
              <a:t>Project 2</a:t>
            </a:r>
            <a:r>
              <a:rPr kumimoji="1" lang="zh-CN" altLang="en-US" sz="2000" dirty="0">
                <a:solidFill>
                  <a:schemeClr val="bg1"/>
                </a:solidFill>
              </a:rPr>
              <a:t>、金融领域</a:t>
            </a:r>
            <a:r>
              <a:rPr kumimoji="1" lang="en-US" altLang="zh-CN" sz="2000" dirty="0">
                <a:solidFill>
                  <a:schemeClr val="bg1"/>
                </a:solidFill>
              </a:rPr>
              <a:t>——</a:t>
            </a:r>
            <a:r>
              <a:rPr kumimoji="1" lang="zh-CN" altLang="en-US" sz="2000" dirty="0">
                <a:solidFill>
                  <a:schemeClr val="bg1"/>
                </a:solidFill>
              </a:rPr>
              <a:t>资金中台产品分身</a:t>
            </a:r>
            <a:endParaRPr kumimoji="1" lang="en-US" altLang="zh-CN" sz="2000" dirty="0">
              <a:solidFill>
                <a:schemeClr val="bg1"/>
              </a:solidFill>
            </a:endParaRPr>
          </a:p>
          <a:p>
            <a:pPr>
              <a:lnSpc>
                <a:spcPct val="200000"/>
              </a:lnSpc>
            </a:pPr>
            <a:r>
              <a:rPr kumimoji="1" lang="en-US" altLang="zh-CN" sz="2000" dirty="0">
                <a:solidFill>
                  <a:schemeClr val="bg1"/>
                </a:solidFill>
              </a:rPr>
              <a:t>Project 3</a:t>
            </a:r>
            <a:r>
              <a:rPr kumimoji="1" lang="zh-CN" altLang="en-US" sz="2000" dirty="0">
                <a:solidFill>
                  <a:schemeClr val="bg1"/>
                </a:solidFill>
              </a:rPr>
              <a:t>、</a:t>
            </a:r>
            <a:r>
              <a:rPr kumimoji="1" lang="en-US" altLang="zh-CN" sz="2000" dirty="0">
                <a:solidFill>
                  <a:schemeClr val="bg1"/>
                </a:solidFill>
              </a:rPr>
              <a:t>Product Lab</a:t>
            </a:r>
            <a:r>
              <a:rPr kumimoji="1" lang="zh-CN" altLang="en-US" sz="2000" dirty="0">
                <a:solidFill>
                  <a:schemeClr val="bg1"/>
                </a:solidFill>
              </a:rPr>
              <a:t>（效果最大化）</a:t>
            </a:r>
            <a:endParaRPr kumimoji="1" lang="en-US" altLang="zh-C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354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A478D-48BA-9CFE-FC44-AFD17927B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3825894-C3D7-3686-C210-C98BDF3143FB}"/>
              </a:ext>
            </a:extLst>
          </p:cNvPr>
          <p:cNvSpPr txBox="1"/>
          <p:nvPr/>
        </p:nvSpPr>
        <p:spPr>
          <a:xfrm>
            <a:off x="457200" y="623880"/>
            <a:ext cx="6330259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</a:rPr>
              <a:t>关注我，一起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</a:rPr>
              <a:t>在 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</a:rPr>
              <a:t>AI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</a:rPr>
              <a:t> 的浪潮下成为超级个体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7BDF101-51D9-6022-2675-9793658CC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810" y="1304624"/>
            <a:ext cx="2967414" cy="355116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6998759-5ABC-90A0-A427-F001F3644A5C}"/>
              </a:ext>
            </a:extLst>
          </p:cNvPr>
          <p:cNvSpPr txBox="1"/>
          <p:nvPr/>
        </p:nvSpPr>
        <p:spPr>
          <a:xfrm>
            <a:off x="2188443" y="5525074"/>
            <a:ext cx="8171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Builders</a:t>
            </a:r>
            <a:r>
              <a:rPr lang="zh-CN" altLang="en-US" dirty="0">
                <a:solidFill>
                  <a:schemeClr val="bg1"/>
                </a:solidFill>
              </a:rPr>
              <a:t> 动态：每日推送 AI领域 26个从业者、顶尖播客、官博的动态</a:t>
            </a:r>
          </a:p>
        </p:txBody>
      </p:sp>
    </p:spTree>
    <p:extLst>
      <p:ext uri="{BB962C8B-B14F-4D97-AF65-F5344CB8AC3E}">
        <p14:creationId xmlns:p14="http://schemas.microsoft.com/office/powerpoint/2010/main" val="1780667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Words>246</Words>
  <Application>Microsoft Macintosh PowerPoint</Application>
  <PresentationFormat>宽屏</PresentationFormat>
  <Paragraphs>29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等线</vt:lpstr>
      <vt:lpstr>NotoSansSC</vt:lpstr>
      <vt:lpstr>Arial</vt:lpstr>
      <vt:lpstr>Courier New</vt:lpstr>
      <vt:lpstr>Symbol</vt:lpstr>
      <vt:lpstr>Times New Roman</vt:lpstr>
      <vt:lpstr>Wingdings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T156928</cp:lastModifiedBy>
  <cp:revision>134</cp:revision>
  <dcterms:modified xsi:type="dcterms:W3CDTF">2026-06-23T09:36:05Z</dcterms:modified>
  <dc:language>en-US</dc:language>
</cp:coreProperties>
</file>